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2192000" cy="6858000"/>
  <p:notesSz cx="6858000" cy="9144000"/>
  <p:embeddedFontLst>
    <p:embeddedFont>
      <p:font typeface="Source Serif Pro Bold" charset="1" panose="02040803050405020204"/>
      <p:regular r:id="rId17"/>
    </p:embeddedFont>
    <p:embeddedFont>
      <p:font typeface="Inter" charset="1" panose="02000503000000020004"/>
      <p:regular r:id="rId18"/>
    </p:embeddedFont>
    <p:embeddedFont>
      <p:font typeface="Open Sans Bold" charset="1" panose="020B0806030504020204"/>
      <p:regular r:id="rId19"/>
    </p:embeddedFont>
    <p:embeddedFont>
      <p:font typeface="Open Sans" charset="1" panose="020B0606030504020204"/>
      <p:regular r:id="rId20"/>
    </p:embeddedFont>
    <p:embeddedFont>
      <p:font typeface="Helvetica World" charset="1" panose="020B0500040000020004"/>
      <p:regular r:id="rId21"/>
    </p:embeddedFont>
    <p:embeddedFont>
      <p:font typeface="Inter Bold" charset="1" panose="020005030000000200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21.png" Type="http://schemas.openxmlformats.org/officeDocument/2006/relationships/image"/><Relationship Id="rId4" Target="../media/image2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2192000" cy="6858000"/>
            <a:chOff x="0" y="0"/>
            <a:chExt cx="16256000" cy="914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56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16256000">
                  <a:moveTo>
                    <a:pt x="0" y="0"/>
                  </a:moveTo>
                  <a:lnTo>
                    <a:pt x="16256000" y="0"/>
                  </a:lnTo>
                  <a:lnTo>
                    <a:pt x="16256000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2192000" cy="6858000"/>
          </a:xfrm>
          <a:custGeom>
            <a:avLst/>
            <a:gdLst/>
            <a:ahLst/>
            <a:cxnLst/>
            <a:rect r="r" b="b" t="t" l="l"/>
            <a:pathLst>
              <a:path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272" t="0" r="-8272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01544" y="3018463"/>
            <a:ext cx="3573461" cy="2022443"/>
            <a:chOff x="0" y="0"/>
            <a:chExt cx="1411738" cy="79899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11738" cy="798990"/>
            </a:xfrm>
            <a:custGeom>
              <a:avLst/>
              <a:gdLst/>
              <a:ahLst/>
              <a:cxnLst/>
              <a:rect r="r" b="b" t="t" l="l"/>
              <a:pathLst>
                <a:path h="798990" w="1411738">
                  <a:moveTo>
                    <a:pt x="97493" y="0"/>
                  </a:moveTo>
                  <a:lnTo>
                    <a:pt x="1314245" y="0"/>
                  </a:lnTo>
                  <a:cubicBezTo>
                    <a:pt x="1340102" y="0"/>
                    <a:pt x="1364899" y="10272"/>
                    <a:pt x="1383183" y="28555"/>
                  </a:cubicBezTo>
                  <a:cubicBezTo>
                    <a:pt x="1401466" y="46838"/>
                    <a:pt x="1411738" y="71636"/>
                    <a:pt x="1411738" y="97493"/>
                  </a:cubicBezTo>
                  <a:lnTo>
                    <a:pt x="1411738" y="701497"/>
                  </a:lnTo>
                  <a:cubicBezTo>
                    <a:pt x="1411738" y="727354"/>
                    <a:pt x="1401466" y="752151"/>
                    <a:pt x="1383183" y="770435"/>
                  </a:cubicBezTo>
                  <a:cubicBezTo>
                    <a:pt x="1364899" y="788718"/>
                    <a:pt x="1340102" y="798990"/>
                    <a:pt x="1314245" y="798990"/>
                  </a:cubicBezTo>
                  <a:lnTo>
                    <a:pt x="97493" y="798990"/>
                  </a:lnTo>
                  <a:cubicBezTo>
                    <a:pt x="71636" y="798990"/>
                    <a:pt x="46838" y="788718"/>
                    <a:pt x="28555" y="770435"/>
                  </a:cubicBezTo>
                  <a:cubicBezTo>
                    <a:pt x="10272" y="752151"/>
                    <a:pt x="0" y="727354"/>
                    <a:pt x="0" y="701497"/>
                  </a:cubicBezTo>
                  <a:lnTo>
                    <a:pt x="0" y="97493"/>
                  </a:lnTo>
                  <a:cubicBezTo>
                    <a:pt x="0" y="71636"/>
                    <a:pt x="10272" y="46838"/>
                    <a:pt x="28555" y="28555"/>
                  </a:cubicBezTo>
                  <a:cubicBezTo>
                    <a:pt x="46838" y="10272"/>
                    <a:pt x="71636" y="0"/>
                    <a:pt x="9749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411738" cy="8275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310160" y="3018463"/>
            <a:ext cx="3573461" cy="2022443"/>
            <a:chOff x="0" y="0"/>
            <a:chExt cx="1411738" cy="7989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11738" cy="798990"/>
            </a:xfrm>
            <a:custGeom>
              <a:avLst/>
              <a:gdLst/>
              <a:ahLst/>
              <a:cxnLst/>
              <a:rect r="r" b="b" t="t" l="l"/>
              <a:pathLst>
                <a:path h="798990" w="1411738">
                  <a:moveTo>
                    <a:pt x="97493" y="0"/>
                  </a:moveTo>
                  <a:lnTo>
                    <a:pt x="1314245" y="0"/>
                  </a:lnTo>
                  <a:cubicBezTo>
                    <a:pt x="1340102" y="0"/>
                    <a:pt x="1364899" y="10272"/>
                    <a:pt x="1383183" y="28555"/>
                  </a:cubicBezTo>
                  <a:cubicBezTo>
                    <a:pt x="1401466" y="46838"/>
                    <a:pt x="1411738" y="71636"/>
                    <a:pt x="1411738" y="97493"/>
                  </a:cubicBezTo>
                  <a:lnTo>
                    <a:pt x="1411738" y="701497"/>
                  </a:lnTo>
                  <a:cubicBezTo>
                    <a:pt x="1411738" y="727354"/>
                    <a:pt x="1401466" y="752151"/>
                    <a:pt x="1383183" y="770435"/>
                  </a:cubicBezTo>
                  <a:cubicBezTo>
                    <a:pt x="1364899" y="788718"/>
                    <a:pt x="1340102" y="798990"/>
                    <a:pt x="1314245" y="798990"/>
                  </a:cubicBezTo>
                  <a:lnTo>
                    <a:pt x="97493" y="798990"/>
                  </a:lnTo>
                  <a:cubicBezTo>
                    <a:pt x="71636" y="798990"/>
                    <a:pt x="46838" y="788718"/>
                    <a:pt x="28555" y="770435"/>
                  </a:cubicBezTo>
                  <a:cubicBezTo>
                    <a:pt x="10272" y="752151"/>
                    <a:pt x="0" y="727354"/>
                    <a:pt x="0" y="701497"/>
                  </a:cubicBezTo>
                  <a:lnTo>
                    <a:pt x="0" y="97493"/>
                  </a:lnTo>
                  <a:cubicBezTo>
                    <a:pt x="0" y="71636"/>
                    <a:pt x="10272" y="46838"/>
                    <a:pt x="28555" y="28555"/>
                  </a:cubicBezTo>
                  <a:cubicBezTo>
                    <a:pt x="46838" y="10272"/>
                    <a:pt x="71636" y="0"/>
                    <a:pt x="9749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411738" cy="8275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216995" y="3018463"/>
            <a:ext cx="3573461" cy="2022443"/>
            <a:chOff x="0" y="0"/>
            <a:chExt cx="1411738" cy="79899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11738" cy="798990"/>
            </a:xfrm>
            <a:custGeom>
              <a:avLst/>
              <a:gdLst/>
              <a:ahLst/>
              <a:cxnLst/>
              <a:rect r="r" b="b" t="t" l="l"/>
              <a:pathLst>
                <a:path h="798990" w="1411738">
                  <a:moveTo>
                    <a:pt x="97493" y="0"/>
                  </a:moveTo>
                  <a:lnTo>
                    <a:pt x="1314245" y="0"/>
                  </a:lnTo>
                  <a:cubicBezTo>
                    <a:pt x="1340102" y="0"/>
                    <a:pt x="1364899" y="10272"/>
                    <a:pt x="1383183" y="28555"/>
                  </a:cubicBezTo>
                  <a:cubicBezTo>
                    <a:pt x="1401466" y="46838"/>
                    <a:pt x="1411738" y="71636"/>
                    <a:pt x="1411738" y="97493"/>
                  </a:cubicBezTo>
                  <a:lnTo>
                    <a:pt x="1411738" y="701497"/>
                  </a:lnTo>
                  <a:cubicBezTo>
                    <a:pt x="1411738" y="727354"/>
                    <a:pt x="1401466" y="752151"/>
                    <a:pt x="1383183" y="770435"/>
                  </a:cubicBezTo>
                  <a:cubicBezTo>
                    <a:pt x="1364899" y="788718"/>
                    <a:pt x="1340102" y="798990"/>
                    <a:pt x="1314245" y="798990"/>
                  </a:cubicBezTo>
                  <a:lnTo>
                    <a:pt x="97493" y="798990"/>
                  </a:lnTo>
                  <a:cubicBezTo>
                    <a:pt x="71636" y="798990"/>
                    <a:pt x="46838" y="788718"/>
                    <a:pt x="28555" y="770435"/>
                  </a:cubicBezTo>
                  <a:cubicBezTo>
                    <a:pt x="10272" y="752151"/>
                    <a:pt x="0" y="727354"/>
                    <a:pt x="0" y="701497"/>
                  </a:cubicBezTo>
                  <a:lnTo>
                    <a:pt x="0" y="97493"/>
                  </a:lnTo>
                  <a:cubicBezTo>
                    <a:pt x="0" y="71636"/>
                    <a:pt x="10272" y="46838"/>
                    <a:pt x="28555" y="28555"/>
                  </a:cubicBezTo>
                  <a:cubicBezTo>
                    <a:pt x="46838" y="10272"/>
                    <a:pt x="71636" y="0"/>
                    <a:pt x="9749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411738" cy="8275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553789" y="1705110"/>
            <a:ext cx="1268970" cy="1487776"/>
          </a:xfrm>
          <a:custGeom>
            <a:avLst/>
            <a:gdLst/>
            <a:ahLst/>
            <a:cxnLst/>
            <a:rect r="r" b="b" t="t" l="l"/>
            <a:pathLst>
              <a:path h="1487776" w="1268970">
                <a:moveTo>
                  <a:pt x="0" y="0"/>
                </a:moveTo>
                <a:lnTo>
                  <a:pt x="1268970" y="0"/>
                </a:lnTo>
                <a:lnTo>
                  <a:pt x="1268970" y="1487775"/>
                </a:lnTo>
                <a:lnTo>
                  <a:pt x="0" y="1487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574" t="-2080" r="-13107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359449" y="1705110"/>
            <a:ext cx="1473102" cy="1473102"/>
          </a:xfrm>
          <a:custGeom>
            <a:avLst/>
            <a:gdLst/>
            <a:ahLst/>
            <a:cxnLst/>
            <a:rect r="r" b="b" t="t" l="l"/>
            <a:pathLst>
              <a:path h="1473102" w="1473102">
                <a:moveTo>
                  <a:pt x="0" y="0"/>
                </a:moveTo>
                <a:lnTo>
                  <a:pt x="1473102" y="0"/>
                </a:lnTo>
                <a:lnTo>
                  <a:pt x="1473102" y="1473102"/>
                </a:lnTo>
                <a:lnTo>
                  <a:pt x="0" y="14731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256647" y="1705110"/>
            <a:ext cx="1494158" cy="1431025"/>
          </a:xfrm>
          <a:custGeom>
            <a:avLst/>
            <a:gdLst/>
            <a:ahLst/>
            <a:cxnLst/>
            <a:rect r="r" b="b" t="t" l="l"/>
            <a:pathLst>
              <a:path h="1431025" w="1494158">
                <a:moveTo>
                  <a:pt x="0" y="0"/>
                </a:moveTo>
                <a:lnTo>
                  <a:pt x="1494158" y="0"/>
                </a:lnTo>
                <a:lnTo>
                  <a:pt x="1494158" y="1431024"/>
                </a:lnTo>
                <a:lnTo>
                  <a:pt x="0" y="14310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5766" t="-31671" r="-24286" b="-25001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24264" y="498175"/>
            <a:ext cx="3701355" cy="629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0"/>
              </a:lnSpc>
            </a:pPr>
            <a:r>
              <a:rPr lang="en-US" sz="3700" b="true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O probl</a:t>
            </a:r>
            <a:r>
              <a:rPr lang="en-US" b="true" sz="3700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ema hoje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28151" y="4001109"/>
            <a:ext cx="3324808" cy="681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2"/>
              </a:lnSpc>
              <a:spcBef>
                <a:spcPct val="0"/>
              </a:spcBef>
            </a:pPr>
            <a:r>
              <a:rPr lang="en-US" sz="130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Uma planilha d</a:t>
            </a:r>
            <a:r>
              <a:rPr lang="en-US" sz="130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 cadastro/agendamento dos aplicadores e outra de conferência de lançamentos, valores e unidades.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433596" y="4001109"/>
            <a:ext cx="3324808" cy="681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2"/>
              </a:lnSpc>
              <a:spcBef>
                <a:spcPct val="0"/>
              </a:spcBef>
            </a:pPr>
            <a:r>
              <a:rPr lang="en-US" sz="130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Cálculo manual d</a:t>
            </a:r>
            <a:r>
              <a:rPr lang="en-US" sz="130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 INSS, ISS e IR para cada aplicador, em cada evento, em cada unidade.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341322" y="4001109"/>
            <a:ext cx="3324808" cy="452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2"/>
              </a:lnSpc>
              <a:spcBef>
                <a:spcPct val="0"/>
              </a:spcBef>
            </a:pPr>
            <a:r>
              <a:rPr lang="en-US" sz="130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Sem rastreabilidad</a:t>
            </a:r>
            <a:r>
              <a:rPr lang="en-US" sz="130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 centralizada do fechamento mensal de pagamentos.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93172" y="3466938"/>
            <a:ext cx="2590205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Pla</a:t>
            </a:r>
            <a:r>
              <a:rPr lang="en-US" b="true" sz="2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nilhas separadas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264795" y="3466938"/>
            <a:ext cx="1702445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Sujeito a erro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917206" y="3466938"/>
            <a:ext cx="2173039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</a:t>
            </a:r>
            <a:r>
              <a:rPr lang="en-US" b="true" sz="2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ifícil de auditar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86526" y="6029325"/>
            <a:ext cx="7171879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Colégio B</a:t>
            </a:r>
            <a:r>
              <a:rPr lang="en-US" sz="1500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ernoulli — fechamento mensal de pagamentos a aplicadores freelancer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2192000" cy="6858000"/>
          </a:xfrm>
          <a:custGeom>
            <a:avLst/>
            <a:gdLst/>
            <a:ahLst/>
            <a:cxnLst/>
            <a:rect r="r" b="b" t="t" l="l"/>
            <a:pathLst>
              <a:path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5" t="0" r="-55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093563" y="2375896"/>
            <a:ext cx="762938" cy="1023235"/>
          </a:xfrm>
          <a:custGeom>
            <a:avLst/>
            <a:gdLst/>
            <a:ahLst/>
            <a:cxnLst/>
            <a:rect r="r" b="b" t="t" l="l"/>
            <a:pathLst>
              <a:path h="1023235" w="762938">
                <a:moveTo>
                  <a:pt x="0" y="0"/>
                </a:moveTo>
                <a:lnTo>
                  <a:pt x="762938" y="0"/>
                </a:lnTo>
                <a:lnTo>
                  <a:pt x="762938" y="1023235"/>
                </a:lnTo>
                <a:lnTo>
                  <a:pt x="0" y="10232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2043" t="-33931" r="-73220" b="-3305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723611" y="2375896"/>
            <a:ext cx="1114996" cy="996623"/>
          </a:xfrm>
          <a:custGeom>
            <a:avLst/>
            <a:gdLst/>
            <a:ahLst/>
            <a:cxnLst/>
            <a:rect r="r" b="b" t="t" l="l"/>
            <a:pathLst>
              <a:path h="996623" w="1114996">
                <a:moveTo>
                  <a:pt x="0" y="0"/>
                </a:moveTo>
                <a:lnTo>
                  <a:pt x="1114996" y="0"/>
                </a:lnTo>
                <a:lnTo>
                  <a:pt x="1114996" y="996624"/>
                </a:lnTo>
                <a:lnTo>
                  <a:pt x="0" y="9966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6292" t="-25507" r="-16292" b="-22825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253170" y="2500387"/>
            <a:ext cx="872132" cy="872132"/>
          </a:xfrm>
          <a:custGeom>
            <a:avLst/>
            <a:gdLst/>
            <a:ahLst/>
            <a:cxnLst/>
            <a:rect r="r" b="b" t="t" l="l"/>
            <a:pathLst>
              <a:path h="872132" w="872132">
                <a:moveTo>
                  <a:pt x="0" y="0"/>
                </a:moveTo>
                <a:lnTo>
                  <a:pt x="872132" y="0"/>
                </a:lnTo>
                <a:lnTo>
                  <a:pt x="872132" y="872133"/>
                </a:lnTo>
                <a:lnTo>
                  <a:pt x="0" y="8721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00837" y="2435500"/>
            <a:ext cx="1464326" cy="1001908"/>
          </a:xfrm>
          <a:custGeom>
            <a:avLst/>
            <a:gdLst/>
            <a:ahLst/>
            <a:cxnLst/>
            <a:rect r="r" b="b" t="t" l="l"/>
            <a:pathLst>
              <a:path h="1001908" w="1464326">
                <a:moveTo>
                  <a:pt x="0" y="0"/>
                </a:moveTo>
                <a:lnTo>
                  <a:pt x="1464327" y="0"/>
                </a:lnTo>
                <a:lnTo>
                  <a:pt x="1464327" y="1001907"/>
                </a:lnTo>
                <a:lnTo>
                  <a:pt x="0" y="100190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9775" t="-39174" r="-10085" b="-36006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2192000" cy="6858000"/>
            <a:chOff x="0" y="0"/>
            <a:chExt cx="16256000" cy="914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56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16256000">
                  <a:moveTo>
                    <a:pt x="0" y="0"/>
                  </a:moveTo>
                  <a:lnTo>
                    <a:pt x="16256000" y="0"/>
                  </a:lnTo>
                  <a:lnTo>
                    <a:pt x="16256000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12797" y="662140"/>
            <a:ext cx="8490223" cy="5789543"/>
            <a:chOff x="0" y="0"/>
            <a:chExt cx="11320297" cy="771939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57150"/>
              <a:ext cx="6752933" cy="9533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80"/>
                </a:lnSpc>
              </a:pPr>
              <a:r>
                <a:rPr lang="en-US" sz="3200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Arquitetura e tecnologias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338671" y="1320470"/>
              <a:ext cx="1602651" cy="25326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73"/>
                </a:lnSpc>
              </a:pPr>
              <a:r>
                <a:rPr lang="en-US" sz="1500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Stack</a:t>
              </a:r>
            </a:p>
            <a:p>
              <a:pPr algn="l">
                <a:lnSpc>
                  <a:spcPts val="2779"/>
                </a:lnSpc>
              </a:pPr>
              <a:r>
                <a:rPr lang="en-US" sz="1200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Linguagem Backend / API Frontend</a:t>
              </a:r>
            </a:p>
            <a:p>
              <a:pPr algn="l">
                <a:lnSpc>
                  <a:spcPts val="2779"/>
                </a:lnSpc>
              </a:pPr>
              <a:r>
                <a:rPr lang="en-US" sz="1200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Banco de dados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8331200" y="1358570"/>
              <a:ext cx="2989097" cy="21458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12"/>
                </a:lnSpc>
              </a:pPr>
              <a:r>
                <a:rPr lang="en-US" sz="1500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Divisão da equipe</a:t>
              </a:r>
            </a:p>
            <a:p>
              <a:pPr algn="l">
                <a:lnSpc>
                  <a:spcPts val="2309"/>
                </a:lnSpc>
              </a:pPr>
              <a:r>
                <a:rPr lang="en-US" sz="1149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Ana Clara —F rontend Bernardo Pedroso —B ackend Bernardo Zschaber —F ullstack Lucas Ferreira —F ullstack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3869271" y="1978889"/>
              <a:ext cx="3372752" cy="18624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779"/>
                </a:lnSpc>
              </a:pPr>
              <a:r>
                <a:rPr lang="en-US" sz="1200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Python</a:t>
              </a:r>
            </a:p>
            <a:p>
              <a:pPr algn="just">
                <a:lnSpc>
                  <a:spcPts val="2779"/>
                </a:lnSpc>
              </a:pPr>
              <a:r>
                <a:rPr lang="en-US" sz="1200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Django + Django REST Framework Django Templates, HTML, CSS, JS PostgreSQL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7373798"/>
              <a:ext cx="8640762" cy="3455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79"/>
                </a:lnSpc>
              </a:pPr>
              <a:r>
                <a:rPr lang="en-US" sz="1200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API REST desacoplada do frontend, banco relacional único para cadastro e lançamentos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2192000" cy="6858000"/>
            <a:chOff x="0" y="0"/>
            <a:chExt cx="16256000" cy="914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56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16256000">
                  <a:moveTo>
                    <a:pt x="0" y="0"/>
                  </a:moveTo>
                  <a:lnTo>
                    <a:pt x="16256000" y="0"/>
                  </a:lnTo>
                  <a:lnTo>
                    <a:pt x="16256000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12797" y="662140"/>
            <a:ext cx="10423789" cy="2204266"/>
            <a:chOff x="0" y="0"/>
            <a:chExt cx="13898385" cy="2939021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57150"/>
              <a:ext cx="5386222" cy="9533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80"/>
                </a:lnSpc>
              </a:pPr>
              <a:r>
                <a:rPr lang="en-US" sz="3200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Histórias de usuário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304800" y="1267701"/>
              <a:ext cx="3687674" cy="16713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1299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Cadastro e lançamento</a:t>
              </a:r>
            </a:p>
            <a:p>
              <a:pPr algn="l">
                <a:lnSpc>
                  <a:spcPts val="2375"/>
                </a:lnSpc>
              </a:pPr>
              <a:r>
                <a:rPr lang="en-US" sz="1050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1 · Cadastro de aplicadores em banco único 2 · Importação de planilhas .xlsx/.xlsm</a:t>
              </a:r>
            </a:p>
            <a:p>
              <a:pPr algn="l">
                <a:lnSpc>
                  <a:spcPts val="2375"/>
                </a:lnSpc>
              </a:pPr>
              <a:r>
                <a:rPr lang="en-US" sz="1050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3 · Lançamento manual de serviço prestado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5080000" y="1362951"/>
              <a:ext cx="3810356" cy="14406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49"/>
                </a:lnSpc>
              </a:pPr>
              <a:r>
                <a:rPr lang="en-US" sz="1299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Cálculo e consistência</a:t>
              </a:r>
            </a:p>
            <a:p>
              <a:pPr algn="l">
                <a:lnSpc>
                  <a:spcPts val="1575"/>
                </a:lnSpc>
              </a:pPr>
              <a:r>
                <a:rPr lang="en-US" sz="1050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4 · Cálculo automático de bruto, INSS, ISS, IR</a:t>
              </a:r>
            </a:p>
            <a:p>
              <a:pPr algn="l">
                <a:lnSpc>
                  <a:spcPts val="1575"/>
                </a:lnSpc>
                <a:spcBef>
                  <a:spcPts val="800"/>
                </a:spcBef>
              </a:pPr>
              <a:r>
                <a:rPr lang="en-US" sz="1050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7 · Sinalização de inconsistências valor lançado × recalculado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9855200" y="1267701"/>
              <a:ext cx="3543490" cy="16713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1299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Consolidação e saída</a:t>
              </a:r>
            </a:p>
            <a:p>
              <a:pPr algn="l">
                <a:lnSpc>
                  <a:spcPts val="2375"/>
                </a:lnSpc>
              </a:pPr>
              <a:r>
                <a:rPr lang="en-US" sz="1050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5 · Resumo consolidado por aplicador</a:t>
              </a:r>
            </a:p>
            <a:p>
              <a:pPr algn="l">
                <a:lnSpc>
                  <a:spcPts val="2375"/>
                </a:lnSpc>
              </a:pPr>
              <a:r>
                <a:rPr lang="en-US" sz="1050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6 · Filtro por unidade e empresa pagadora 8 · Exportação para Excel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1501628" y="319214"/>
              <a:ext cx="2396757" cy="3831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19"/>
                </a:lnSpc>
              </a:pPr>
              <a:r>
                <a:rPr lang="en-US" sz="1299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8 de 8 implementadas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2192000" cy="6858000"/>
          </a:xfrm>
          <a:custGeom>
            <a:avLst/>
            <a:gdLst/>
            <a:ahLst/>
            <a:cxnLst/>
            <a:rect r="r" b="b" t="t" l="l"/>
            <a:pathLst>
              <a:path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2539" t="0" r="-52539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15089" y="1371600"/>
            <a:ext cx="6715552" cy="4800600"/>
            <a:chOff x="0" y="0"/>
            <a:chExt cx="2653057" cy="18965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653057" cy="1896533"/>
            </a:xfrm>
            <a:custGeom>
              <a:avLst/>
              <a:gdLst/>
              <a:ahLst/>
              <a:cxnLst/>
              <a:rect r="r" b="b" t="t" l="l"/>
              <a:pathLst>
                <a:path h="1896533" w="2653057">
                  <a:moveTo>
                    <a:pt x="39196" y="0"/>
                  </a:moveTo>
                  <a:lnTo>
                    <a:pt x="2613861" y="0"/>
                  </a:lnTo>
                  <a:cubicBezTo>
                    <a:pt x="2635509" y="0"/>
                    <a:pt x="2653057" y="17549"/>
                    <a:pt x="2653057" y="39196"/>
                  </a:cubicBezTo>
                  <a:lnTo>
                    <a:pt x="2653057" y="1857337"/>
                  </a:lnTo>
                  <a:cubicBezTo>
                    <a:pt x="2653057" y="1867733"/>
                    <a:pt x="2648928" y="1877702"/>
                    <a:pt x="2641577" y="1885053"/>
                  </a:cubicBezTo>
                  <a:cubicBezTo>
                    <a:pt x="2634226" y="1892404"/>
                    <a:pt x="2624257" y="1896533"/>
                    <a:pt x="2613861" y="1896533"/>
                  </a:cubicBezTo>
                  <a:lnTo>
                    <a:pt x="39196" y="1896533"/>
                  </a:lnTo>
                  <a:cubicBezTo>
                    <a:pt x="17549" y="1896533"/>
                    <a:pt x="0" y="1878985"/>
                    <a:pt x="0" y="1857337"/>
                  </a:cubicBezTo>
                  <a:lnTo>
                    <a:pt x="0" y="39196"/>
                  </a:lnTo>
                  <a:cubicBezTo>
                    <a:pt x="0" y="28801"/>
                    <a:pt x="4130" y="18831"/>
                    <a:pt x="11480" y="11480"/>
                  </a:cubicBezTo>
                  <a:cubicBezTo>
                    <a:pt x="18831" y="4130"/>
                    <a:pt x="28801" y="0"/>
                    <a:pt x="3919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14300"/>
              <a:ext cx="2653057" cy="20108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374990" y="1371600"/>
            <a:ext cx="4559947" cy="4800600"/>
            <a:chOff x="0" y="0"/>
            <a:chExt cx="1801461" cy="18965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01461" cy="1896533"/>
            </a:xfrm>
            <a:custGeom>
              <a:avLst/>
              <a:gdLst/>
              <a:ahLst/>
              <a:cxnLst/>
              <a:rect r="r" b="b" t="t" l="l"/>
              <a:pathLst>
                <a:path h="1896533" w="1801461">
                  <a:moveTo>
                    <a:pt x="57726" y="0"/>
                  </a:moveTo>
                  <a:lnTo>
                    <a:pt x="1743735" y="0"/>
                  </a:lnTo>
                  <a:cubicBezTo>
                    <a:pt x="1775616" y="0"/>
                    <a:pt x="1801461" y="25845"/>
                    <a:pt x="1801461" y="57726"/>
                  </a:cubicBezTo>
                  <a:lnTo>
                    <a:pt x="1801461" y="1838808"/>
                  </a:lnTo>
                  <a:cubicBezTo>
                    <a:pt x="1801461" y="1870689"/>
                    <a:pt x="1775616" y="1896533"/>
                    <a:pt x="1743735" y="1896533"/>
                  </a:cubicBezTo>
                  <a:lnTo>
                    <a:pt x="57726" y="1896533"/>
                  </a:lnTo>
                  <a:cubicBezTo>
                    <a:pt x="25845" y="1896533"/>
                    <a:pt x="0" y="1870689"/>
                    <a:pt x="0" y="1838808"/>
                  </a:cubicBezTo>
                  <a:lnTo>
                    <a:pt x="0" y="57726"/>
                  </a:lnTo>
                  <a:cubicBezTo>
                    <a:pt x="0" y="25845"/>
                    <a:pt x="25845" y="0"/>
                    <a:pt x="5772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14300"/>
              <a:ext cx="1801461" cy="20108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7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7411737" y="2137006"/>
            <a:ext cx="1609547" cy="1596873"/>
          </a:xfrm>
          <a:custGeom>
            <a:avLst/>
            <a:gdLst/>
            <a:ahLst/>
            <a:cxnLst/>
            <a:rect r="r" b="b" t="t" l="l"/>
            <a:pathLst>
              <a:path h="1596873" w="1609547">
                <a:moveTo>
                  <a:pt x="0" y="0"/>
                </a:moveTo>
                <a:lnTo>
                  <a:pt x="1609546" y="0"/>
                </a:lnTo>
                <a:lnTo>
                  <a:pt x="1609546" y="1596873"/>
                </a:lnTo>
                <a:lnTo>
                  <a:pt x="0" y="15968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3746" t="-12152" r="-11428" b="-11936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475881" y="4138452"/>
            <a:ext cx="2301056" cy="1492577"/>
          </a:xfrm>
          <a:custGeom>
            <a:avLst/>
            <a:gdLst/>
            <a:ahLst/>
            <a:cxnLst/>
            <a:rect r="r" b="b" t="t" l="l"/>
            <a:pathLst>
              <a:path h="1492577" w="2301056">
                <a:moveTo>
                  <a:pt x="0" y="0"/>
                </a:moveTo>
                <a:lnTo>
                  <a:pt x="2301056" y="0"/>
                </a:lnTo>
                <a:lnTo>
                  <a:pt x="2301056" y="1492577"/>
                </a:lnTo>
                <a:lnTo>
                  <a:pt x="0" y="14925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119837" y="4884741"/>
            <a:ext cx="1402723" cy="935149"/>
          </a:xfrm>
          <a:custGeom>
            <a:avLst/>
            <a:gdLst/>
            <a:ahLst/>
            <a:cxnLst/>
            <a:rect r="r" b="b" t="t" l="l"/>
            <a:pathLst>
              <a:path h="935149" w="1402723">
                <a:moveTo>
                  <a:pt x="0" y="0"/>
                </a:moveTo>
                <a:lnTo>
                  <a:pt x="1402723" y="0"/>
                </a:lnTo>
                <a:lnTo>
                  <a:pt x="1402723" y="935148"/>
                </a:lnTo>
                <a:lnTo>
                  <a:pt x="0" y="9351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38314" y="1997359"/>
            <a:ext cx="5076626" cy="2774894"/>
          </a:xfrm>
          <a:custGeom>
            <a:avLst/>
            <a:gdLst/>
            <a:ahLst/>
            <a:cxnLst/>
            <a:rect r="r" b="b" t="t" l="l"/>
            <a:pathLst>
              <a:path h="2774894" w="5076626">
                <a:moveTo>
                  <a:pt x="0" y="0"/>
                </a:moveTo>
                <a:lnTo>
                  <a:pt x="5076626" y="0"/>
                </a:lnTo>
                <a:lnTo>
                  <a:pt x="5076626" y="2774894"/>
                </a:lnTo>
                <a:lnTo>
                  <a:pt x="0" y="27748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0" y="498175"/>
            <a:ext cx="6365883" cy="629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0"/>
              </a:lnSpc>
            </a:pPr>
            <a:r>
              <a:rPr lang="en-US" sz="3700" b="true">
                <a:solidFill>
                  <a:srgbClr val="FFFFFF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Ferramentas de IA usadas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08150" y="1483009"/>
            <a:ext cx="329550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Agente de Código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475881" y="1483009"/>
            <a:ext cx="2634555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IA generativa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73262" y="4885297"/>
            <a:ext cx="3109668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Claude Code </a:t>
            </a:r>
            <a:r>
              <a:rPr lang="en-US" sz="22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Fable 5.1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021283" y="2316953"/>
            <a:ext cx="2838713" cy="1189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v0.app</a:t>
            </a:r>
          </a:p>
          <a:p>
            <a:pPr algn="ctr">
              <a:lnSpc>
                <a:spcPts val="3219"/>
              </a:lnSpc>
            </a:pPr>
            <a:r>
              <a:rPr lang="en-US" sz="22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logo inicial</a:t>
            </a:r>
          </a:p>
          <a:p>
            <a:pPr algn="ctr">
              <a:lnSpc>
                <a:spcPts val="3219"/>
              </a:lnSpc>
            </a:pPr>
            <a:r>
              <a:rPr lang="en-US" sz="22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conceitos visuais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782016" y="4066226"/>
            <a:ext cx="2077981" cy="1189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gpt image</a:t>
            </a:r>
          </a:p>
          <a:p>
            <a:pPr algn="ctr">
              <a:lnSpc>
                <a:spcPts val="3219"/>
              </a:lnSpc>
            </a:pPr>
            <a:r>
              <a:rPr lang="en-US" sz="22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refinamento</a:t>
            </a:r>
          </a:p>
          <a:p>
            <a:pPr algn="ctr">
              <a:lnSpc>
                <a:spcPts val="3219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773262" y="5304690"/>
            <a:ext cx="6109271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Base do sistema, importação de planilhas, qualidade e documentação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2192000" cy="6858000"/>
          </a:xfrm>
          <a:custGeom>
            <a:avLst/>
            <a:gdLst/>
            <a:ahLst/>
            <a:cxnLst/>
            <a:rect r="r" b="b" t="t" l="l"/>
            <a:pathLst>
              <a:path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2539" t="0" r="-52539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209060" y="1265202"/>
            <a:ext cx="7488700" cy="2327569"/>
          </a:xfrm>
          <a:custGeom>
            <a:avLst/>
            <a:gdLst/>
            <a:ahLst/>
            <a:cxnLst/>
            <a:rect r="r" b="b" t="t" l="l"/>
            <a:pathLst>
              <a:path h="2327569" w="7488700">
                <a:moveTo>
                  <a:pt x="0" y="0"/>
                </a:moveTo>
                <a:lnTo>
                  <a:pt x="7488699" y="0"/>
                </a:lnTo>
                <a:lnTo>
                  <a:pt x="7488699" y="2327569"/>
                </a:lnTo>
                <a:lnTo>
                  <a:pt x="0" y="23275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98408" y="3888046"/>
            <a:ext cx="7241022" cy="1951174"/>
          </a:xfrm>
          <a:custGeom>
            <a:avLst/>
            <a:gdLst/>
            <a:ahLst/>
            <a:cxnLst/>
            <a:rect r="r" b="b" t="t" l="l"/>
            <a:pathLst>
              <a:path h="1951174" w="7241022">
                <a:moveTo>
                  <a:pt x="0" y="0"/>
                </a:moveTo>
                <a:lnTo>
                  <a:pt x="7241022" y="0"/>
                </a:lnTo>
                <a:lnTo>
                  <a:pt x="7241022" y="1951174"/>
                </a:lnTo>
                <a:lnTo>
                  <a:pt x="0" y="19511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18877" y="337503"/>
            <a:ext cx="6365883" cy="629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0"/>
              </a:lnSpc>
            </a:pPr>
            <a:r>
              <a:rPr lang="en-US" sz="3700" b="true">
                <a:solidFill>
                  <a:srgbClr val="FFFFFF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Pontos positivos e negativos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18877" y="1947656"/>
            <a:ext cx="3498104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BF6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799">
                <a:solidFill>
                  <a:srgbClr val="00BF63"/>
                </a:solidFill>
                <a:latin typeface="Open Sans"/>
                <a:ea typeface="Open Sans"/>
                <a:cs typeface="Open Sans"/>
                <a:sym typeface="Open Sans"/>
              </a:rPr>
              <a:t>✅</a:t>
            </a:r>
            <a:r>
              <a:rPr lang="en-US" sz="2799">
                <a:solidFill>
                  <a:srgbClr val="00BF63"/>
                </a:solidFill>
                <a:latin typeface="Open Sans"/>
                <a:ea typeface="Open Sans"/>
                <a:cs typeface="Open Sans"/>
                <a:sym typeface="Open Sans"/>
              </a:rPr>
              <a:t> O</a:t>
            </a:r>
            <a:r>
              <a:rPr lang="en-US" sz="2799">
                <a:solidFill>
                  <a:srgbClr val="00BF63"/>
                </a:solidFill>
                <a:latin typeface="Open Sans"/>
                <a:ea typeface="Open Sans"/>
                <a:cs typeface="Open Sans"/>
                <a:sym typeface="Open Sans"/>
              </a:rPr>
              <a:t>nde a IA ajudou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953410" y="4235825"/>
            <a:ext cx="3414244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FF3131"/>
                </a:solidFill>
                <a:latin typeface="Open Sans"/>
                <a:ea typeface="Open Sans"/>
                <a:cs typeface="Open Sans"/>
                <a:sym typeface="Open Sans"/>
              </a:rPr>
              <a:t>⚠️ Onde a IA falhou ou exigiu revisão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2192000" cy="6858000"/>
          </a:xfrm>
          <a:custGeom>
            <a:avLst/>
            <a:gdLst/>
            <a:ahLst/>
            <a:cxnLst/>
            <a:rect r="r" b="b" t="t" l="l"/>
            <a:pathLst>
              <a:path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2539" t="0" r="-52539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327372" y="1565254"/>
            <a:ext cx="5467583" cy="4059640"/>
          </a:xfrm>
          <a:custGeom>
            <a:avLst/>
            <a:gdLst/>
            <a:ahLst/>
            <a:cxnLst/>
            <a:rect r="r" b="b" t="t" l="l"/>
            <a:pathLst>
              <a:path h="4059640" w="5467583">
                <a:moveTo>
                  <a:pt x="0" y="0"/>
                </a:moveTo>
                <a:lnTo>
                  <a:pt x="5467583" y="0"/>
                </a:lnTo>
                <a:lnTo>
                  <a:pt x="5467583" y="4059639"/>
                </a:lnTo>
                <a:lnTo>
                  <a:pt x="0" y="40596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170121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-18158" y="401530"/>
            <a:ext cx="8023567" cy="629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0"/>
              </a:lnSpc>
            </a:pPr>
            <a:r>
              <a:rPr lang="en-US" sz="3700" b="true">
                <a:solidFill>
                  <a:srgbClr val="FFFFFF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Dicas, boas práticas e anti-padrões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85800" y="1756330"/>
            <a:ext cx="4065538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👍 Pedir números, não opinião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👍 Usar dados reais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👍 Testar o que deve passar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👍 Pedir o porquê junto do código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85800" y="3465913"/>
            <a:ext cx="5265390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👎 Aceitar a primeira conclusão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👎 Commits gigantes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👎 Confiar em código não executado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👎 Aceitar o design pronto de outro produto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2192000" cy="6858000"/>
          </a:xfrm>
          <a:custGeom>
            <a:avLst/>
            <a:gdLst/>
            <a:ahLst/>
            <a:cxnLst/>
            <a:rect r="r" b="b" t="t" l="l"/>
            <a:pathLst>
              <a:path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2539" t="0" r="-52539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88656" y="1267571"/>
            <a:ext cx="11614688" cy="2838339"/>
          </a:xfrm>
          <a:custGeom>
            <a:avLst/>
            <a:gdLst/>
            <a:ahLst/>
            <a:cxnLst/>
            <a:rect r="r" b="b" t="t" l="l"/>
            <a:pathLst>
              <a:path h="2838339" w="11614688">
                <a:moveTo>
                  <a:pt x="0" y="0"/>
                </a:moveTo>
                <a:lnTo>
                  <a:pt x="11614688" y="0"/>
                </a:lnTo>
                <a:lnTo>
                  <a:pt x="11614688" y="2838339"/>
                </a:lnTo>
                <a:lnTo>
                  <a:pt x="0" y="28383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019625" y="3591733"/>
            <a:ext cx="439130" cy="345141"/>
          </a:xfrm>
          <a:custGeom>
            <a:avLst/>
            <a:gdLst/>
            <a:ahLst/>
            <a:cxnLst/>
            <a:rect r="r" b="b" t="t" l="l"/>
            <a:pathLst>
              <a:path h="345141" w="439130">
                <a:moveTo>
                  <a:pt x="0" y="0"/>
                </a:moveTo>
                <a:lnTo>
                  <a:pt x="439130" y="0"/>
                </a:lnTo>
                <a:lnTo>
                  <a:pt x="439130" y="345141"/>
                </a:lnTo>
                <a:lnTo>
                  <a:pt x="0" y="3451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661" t="0" r="-131508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63439" y="426877"/>
            <a:ext cx="7871484" cy="629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0"/>
              </a:lnSpc>
            </a:pPr>
            <a:r>
              <a:rPr lang="en-US" sz="3700" b="true">
                <a:solidFill>
                  <a:srgbClr val="FFFFFF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Trabalho em equipe e código gerado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64827" y="4278585"/>
            <a:ext cx="8453289" cy="935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6"/>
              </a:lnSpc>
              <a:spcBef>
                <a:spcPct val="0"/>
              </a:spcBef>
            </a:pPr>
            <a:r>
              <a:rPr lang="en-US" sz="179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{COLOCAR PRINT DOS INSIGTHS AQUI ATUALIZADO}</a:t>
            </a:r>
          </a:p>
          <a:p>
            <a:pPr algn="ctr">
              <a:lnSpc>
                <a:spcPts val="2506"/>
              </a:lnSpc>
              <a:spcBef>
                <a:spcPct val="0"/>
              </a:spcBef>
            </a:pPr>
            <a:r>
              <a:rPr lang="en-US" sz="179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{ATUALIZAR O NUMERO DE COMMITS DO ZSCHABER}</a:t>
            </a:r>
          </a:p>
          <a:p>
            <a:pPr algn="ctr">
              <a:lnSpc>
                <a:spcPts val="2506"/>
              </a:lnSpc>
              <a:spcBef>
                <a:spcPct val="0"/>
              </a:spcBef>
            </a:pPr>
            <a:r>
              <a:rPr lang="en-US" sz="179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{COLOCAR A PORCENTAGEM DE CODIGO QUE FOI FEITO POR IA}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014939" y="5290376"/>
            <a:ext cx="2413468" cy="1193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35%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235244" y="5759132"/>
            <a:ext cx="3714601" cy="580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foi g</a:t>
            </a: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erado por IA!!!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8019625" y="3083859"/>
            <a:ext cx="439130" cy="345141"/>
          </a:xfrm>
          <a:custGeom>
            <a:avLst/>
            <a:gdLst/>
            <a:ahLst/>
            <a:cxnLst/>
            <a:rect r="r" b="b" t="t" l="l"/>
            <a:pathLst>
              <a:path h="345141" w="439130">
                <a:moveTo>
                  <a:pt x="0" y="0"/>
                </a:moveTo>
                <a:lnTo>
                  <a:pt x="439130" y="0"/>
                </a:lnTo>
                <a:lnTo>
                  <a:pt x="439130" y="345141"/>
                </a:lnTo>
                <a:lnTo>
                  <a:pt x="0" y="3451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661" t="0" r="-131508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092545" y="3045759"/>
            <a:ext cx="279432" cy="30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6"/>
              </a:lnSpc>
            </a:pPr>
            <a:r>
              <a:rPr lang="en-US" sz="1790">
                <a:solidFill>
                  <a:srgbClr val="545454"/>
                </a:solidFill>
                <a:latin typeface="Inter"/>
                <a:ea typeface="Inter"/>
                <a:cs typeface="Inter"/>
                <a:sym typeface="Inter"/>
              </a:rPr>
              <a:t>45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8019625" y="2514170"/>
            <a:ext cx="439130" cy="345141"/>
          </a:xfrm>
          <a:custGeom>
            <a:avLst/>
            <a:gdLst/>
            <a:ahLst/>
            <a:cxnLst/>
            <a:rect r="r" b="b" t="t" l="l"/>
            <a:pathLst>
              <a:path h="345141" w="439130">
                <a:moveTo>
                  <a:pt x="0" y="0"/>
                </a:moveTo>
                <a:lnTo>
                  <a:pt x="439130" y="0"/>
                </a:lnTo>
                <a:lnTo>
                  <a:pt x="439130" y="345141"/>
                </a:lnTo>
                <a:lnTo>
                  <a:pt x="0" y="3451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661" t="0" r="-131508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019625" y="1969004"/>
            <a:ext cx="439130" cy="345141"/>
          </a:xfrm>
          <a:custGeom>
            <a:avLst/>
            <a:gdLst/>
            <a:ahLst/>
            <a:cxnLst/>
            <a:rect r="r" b="b" t="t" l="l"/>
            <a:pathLst>
              <a:path h="345141" w="439130">
                <a:moveTo>
                  <a:pt x="0" y="0"/>
                </a:moveTo>
                <a:lnTo>
                  <a:pt x="439130" y="0"/>
                </a:lnTo>
                <a:lnTo>
                  <a:pt x="439130" y="345141"/>
                </a:lnTo>
                <a:lnTo>
                  <a:pt x="0" y="3451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661" t="0" r="-131508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8106403" y="3619500"/>
            <a:ext cx="265574" cy="30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6"/>
              </a:lnSpc>
            </a:pPr>
            <a:r>
              <a:rPr lang="en-US" sz="1790">
                <a:solidFill>
                  <a:srgbClr val="545454"/>
                </a:solidFill>
                <a:latin typeface="Inter"/>
                <a:ea typeface="Inter"/>
                <a:cs typeface="Inter"/>
                <a:sym typeface="Inter"/>
              </a:rPr>
              <a:t>37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127524" y="2476070"/>
            <a:ext cx="223333" cy="30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6"/>
              </a:lnSpc>
            </a:pPr>
            <a:r>
              <a:rPr lang="en-US" sz="1790">
                <a:solidFill>
                  <a:srgbClr val="545454"/>
                </a:solidFill>
                <a:latin typeface="Inter"/>
                <a:ea typeface="Inter"/>
                <a:cs typeface="Inter"/>
                <a:sym typeface="Inter"/>
              </a:rPr>
              <a:t>51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109334" y="1968444"/>
            <a:ext cx="269571" cy="30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6"/>
              </a:lnSpc>
            </a:pPr>
            <a:r>
              <a:rPr lang="en-US" sz="1790">
                <a:solidFill>
                  <a:srgbClr val="545454"/>
                </a:solidFill>
                <a:latin typeface="Inter"/>
                <a:ea typeface="Inter"/>
                <a:cs typeface="Inter"/>
                <a:sym typeface="Inter"/>
              </a:rPr>
              <a:t>47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303788" y="5974081"/>
            <a:ext cx="792212" cy="198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(ao menos)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2192000" cy="6858000"/>
          </a:xfrm>
          <a:custGeom>
            <a:avLst/>
            <a:gdLst/>
            <a:ahLst/>
            <a:cxnLst/>
            <a:rect r="r" b="b" t="t" l="l"/>
            <a:pathLst>
              <a:path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272" t="0" r="-8272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74831" y="1545902"/>
            <a:ext cx="2057400" cy="1028700"/>
            <a:chOff x="0" y="0"/>
            <a:chExt cx="812800" cy="406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  <a:r>
                <a:rPr lang="en-US" b="true" sz="1599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VELOCIDADE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29565" y="337503"/>
            <a:ext cx="2237631" cy="629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0"/>
              </a:lnSpc>
            </a:pPr>
            <a:r>
              <a:rPr lang="en-US" sz="3700" b="true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Conclusão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5065706" y="1609586"/>
            <a:ext cx="2057400" cy="1028700"/>
            <a:chOff x="0" y="0"/>
            <a:chExt cx="812800" cy="406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39"/>
                </a:lnSpc>
                <a:spcBef>
                  <a:spcPct val="0"/>
                </a:spcBef>
              </a:pPr>
              <a:r>
                <a:rPr lang="en-US" b="true" sz="1599" strike="noStrike" u="non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REVISÃO OBRIGATÓRIA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59769" y="1545902"/>
            <a:ext cx="2057400" cy="1028700"/>
            <a:chOff x="0" y="0"/>
            <a:chExt cx="812800" cy="406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39"/>
                </a:lnSpc>
                <a:spcBef>
                  <a:spcPct val="0"/>
                </a:spcBef>
              </a:pPr>
              <a:r>
                <a:rPr lang="en-US" b="true" sz="1599" strike="noStrike" u="non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MEDIR ANTES DE CONFIAR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767196" y="4016326"/>
            <a:ext cx="6336798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"O agente acelerou muito a escrita do código, mas não substitui quem conhece o problema: as decisões que evitaram pagar alguém duas vezes vieram da análise das planilhas reais, não do agente."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42362" y="2348830"/>
            <a:ext cx="748225" cy="413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1"/>
              </a:lnSpc>
            </a:pPr>
            <a:r>
              <a:rPr lang="en-US" sz="247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✅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16475" y="2348830"/>
            <a:ext cx="748225" cy="413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1"/>
              </a:lnSpc>
            </a:pPr>
            <a:r>
              <a:rPr lang="en-US" sz="247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✅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533237" y="2348830"/>
            <a:ext cx="748225" cy="413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1"/>
              </a:lnSpc>
            </a:pPr>
            <a:r>
              <a:rPr lang="en-US" sz="247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✅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907350" y="2348830"/>
            <a:ext cx="748225" cy="413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1"/>
              </a:lnSpc>
            </a:pPr>
            <a:r>
              <a:rPr lang="en-US" sz="247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✅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727300" y="2348830"/>
            <a:ext cx="748225" cy="413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1"/>
              </a:lnSpc>
            </a:pPr>
            <a:r>
              <a:rPr lang="en-US" sz="247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✅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101413" y="2348830"/>
            <a:ext cx="748225" cy="413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1"/>
              </a:lnSpc>
            </a:pPr>
            <a:r>
              <a:rPr lang="en-US" sz="247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✅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2192000" cy="6858000"/>
            <a:chOff x="0" y="0"/>
            <a:chExt cx="16256000" cy="914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56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16256000">
                  <a:moveTo>
                    <a:pt x="0" y="0"/>
                  </a:moveTo>
                  <a:lnTo>
                    <a:pt x="16256000" y="0"/>
                  </a:lnTo>
                  <a:lnTo>
                    <a:pt x="16256000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404616" y="2609479"/>
            <a:ext cx="5590699" cy="1395412"/>
            <a:chOff x="0" y="0"/>
            <a:chExt cx="7454265" cy="186055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1434084" y="-95250"/>
              <a:ext cx="4394975" cy="14395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719"/>
                </a:lnSpc>
              </a:pPr>
              <a:r>
                <a:rPr lang="en-US" sz="4800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Perguntas?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383881"/>
              <a:ext cx="7454265" cy="4766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39"/>
                </a:lnSpc>
              </a:pPr>
              <a:r>
                <a:rPr lang="en-US" sz="1599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ProvaPay — github.com/bernardozschaber/tp1-eng-soft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DAHWaa6PizE</dc:identifier>
  <dcterms:modified xsi:type="dcterms:W3CDTF">2011-08-01T06:04:30Z</dcterms:modified>
  <cp:revision>1</cp:revision>
  <dc:title>apresentação tp eng soft prova pay</dc:title>
</cp:coreProperties>
</file>